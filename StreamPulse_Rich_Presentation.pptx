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StreamPulse Pharma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Cloud-Native Multi-Tenant SaaS Platform</a:t>
            </a:r>
          </a:p>
          <a:p/>
          <a:p>
            <a:r>
              <a:t>Presented By: Aniket Vyavahare</a:t>
            </a:r>
          </a:p>
          <a:p>
            <a:r>
              <a:t>Software Engineering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Pharmacy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The Monolith Bottleneck:</a:t>
            </a:r>
            <a:r>
              <a:t> Traditional software lacks real-time branch syncing.</a:t>
            </a:r>
          </a:p>
          <a:p>
            <a:pPr lvl="1"/>
            <a:r>
              <a:rPr b="1"/>
              <a:t>Result:</a:t>
            </a:r>
            <a:r>
              <a:t> Inventory mismatches across different city branches.</a:t>
            </a:r>
          </a:p>
          <a:p>
            <a:pPr/>
            <a:r>
              <a:rPr b="1"/>
              <a:t>Hardware Dependency:</a:t>
            </a:r>
            <a:r>
              <a:t> Local server crashes cause catastrophic data loss.</a:t>
            </a:r>
          </a:p>
          <a:p>
            <a:pPr lvl="1"/>
            <a:r>
              <a:rPr b="1"/>
              <a:t>Result:</a:t>
            </a:r>
            <a:r>
              <a:t> Loss of crucial sales and compliance records.</a:t>
            </a:r>
          </a:p>
          <a:p>
            <a:pPr/>
            <a:r>
              <a:rPr b="1"/>
              <a:t>Security Risks:</a:t>
            </a:r>
            <a:r>
              <a:t> Single-tenant setups lack enterprise-grade failover.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SaaS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Cloud-First Architecture:</a:t>
            </a:r>
            <a:r>
              <a:t> Migrating to a highly available AWS environment.</a:t>
            </a:r>
          </a:p>
          <a:p>
            <a:pPr/>
            <a:r>
              <a:rPr b="1"/>
              <a:t>Multi-Tenant Design:</a:t>
            </a:r>
            <a:r>
              <a:t> One robust application serving multiple independent chains.</a:t>
            </a:r>
          </a:p>
          <a:p>
            <a:pPr lvl="1"/>
            <a:r>
              <a:rPr b="1"/>
              <a:t>Benefit:</a:t>
            </a:r>
            <a:r>
              <a:t> Drastically reduces infrastructure costs while scaling instantly.</a:t>
            </a:r>
          </a:p>
          <a:p>
            <a:pPr/>
            <a:r>
              <a:rPr b="1"/>
              <a:t>Hybrid Data Model:</a:t>
            </a:r>
            <a:r>
              <a:t> Utilizing both SQL and NoSQL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Multi-Tenant Architecture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Discriminator Column Isolation:</a:t>
            </a:r>
            <a:r>
              <a:t> Every record is tied to a specific tenant ID.</a:t>
            </a:r>
          </a:p>
          <a:p>
            <a:pPr lvl="1"/>
            <a:r>
              <a:rPr b="1"/>
              <a:t>Implementation:</a:t>
            </a:r>
            <a:r>
              <a:t> A shared 'pharmacies' table links all data.</a:t>
            </a:r>
          </a:p>
          <a:p>
            <a:pPr/>
            <a:r>
              <a:rPr b="1"/>
              <a:t>Session-Level Security:</a:t>
            </a:r>
            <a:r>
              <a:t> Backend strictly scopes queries to the logged-in tenant.</a:t>
            </a:r>
          </a:p>
          <a:p>
            <a:pPr lvl="1"/>
            <a:r>
              <a:rPr b="1"/>
              <a:t>Guarantee:</a:t>
            </a:r>
            <a:r>
              <a:t> Cross-organization data leaks are mathematically impossible.</a:t>
            </a:r>
          </a:p>
          <a:p>
            <a:pPr/>
            <a:r>
              <a:rPr b="1"/>
              <a:t>Resource Efficiency:</a:t>
            </a:r>
            <a:r>
              <a:t> Maximum compute utilization.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Database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Amazon RDS (PostgreSQL):</a:t>
            </a:r>
            <a:r>
              <a:t> Strict, ACID-compliant data.</a:t>
            </a:r>
          </a:p>
          <a:p>
            <a:pPr lvl="1"/>
            <a:r>
              <a:rPr b="1"/>
              <a:t>Use Case:</a:t>
            </a:r>
            <a:r>
              <a:t> Users, Sales, Inventory Batches, and Financial Ledgers.</a:t>
            </a:r>
          </a:p>
          <a:p>
            <a:pPr/>
            <a:r>
              <a:rPr b="1"/>
              <a:t>Amazon DocumentDB (MongoDB):</a:t>
            </a:r>
            <a:r>
              <a:t> Schema-less, flexible data.</a:t>
            </a:r>
          </a:p>
          <a:p>
            <a:pPr lvl="1"/>
            <a:r>
              <a:rPr b="1"/>
              <a:t>Use Case:</a:t>
            </a:r>
            <a:r>
              <a:t> Dynamic medicine side-effects, descriptions, and supplier notes.</a:t>
            </a:r>
          </a:p>
          <a:p>
            <a:pPr/>
            <a:r>
              <a:rPr b="1"/>
              <a:t>Why?</a:t>
            </a:r>
            <a:r>
              <a:t> Polyglot persistence ensures the right tool for the right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[ ⚠️ DRAG AND DROP YOUR AWS DIAGRAM IMAGE HERE ]</a:t>
            </a:r>
          </a:p>
          <a:p>
            <a:pPr/>
            <a:r>
              <a:rPr b="1"/>
              <a:t>Key Components:</a:t>
            </a:r>
          </a:p>
          <a:p>
            <a:pPr lvl="1"/>
            <a:r>
              <a:rPr b="1"/>
              <a:t>Application Load Balancer (ALB) &amp; Auto Scaling Group</a:t>
            </a:r>
          </a:p>
          <a:p>
            <a:pPr lvl="1"/>
            <a:r>
              <a:rPr b="1"/>
              <a:t>Multi-AZ Database Replication for Failover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Network Isolation (VPC):</a:t>
            </a:r>
          </a:p>
          <a:p>
            <a:pPr lvl="1"/>
            <a:r>
              <a:rPr b="1"/>
              <a:t>Public Subnet:</a:t>
            </a:r>
            <a:r>
              <a:t> Houses the EC2 Web Servers.</a:t>
            </a:r>
          </a:p>
          <a:p>
            <a:pPr lvl="1"/>
            <a:r>
              <a:rPr b="1"/>
              <a:t>Private Subnet:</a:t>
            </a:r>
            <a:r>
              <a:t> Secures the RDS and DocumentDB instances from the internet.</a:t>
            </a:r>
          </a:p>
          <a:p>
            <a:pPr/>
            <a:r>
              <a:rPr b="1"/>
              <a:t>Secret Management:</a:t>
            </a:r>
            <a:r>
              <a:t> Dynamic credential injection via .env / AWS Secrets Manager.</a:t>
            </a:r>
          </a:p>
          <a:p>
            <a:pPr/>
            <a:r>
              <a:rPr b="1"/>
              <a:t>Application Layer:</a:t>
            </a:r>
            <a:r>
              <a:t> Strict Role-Based Access Control (Admin vs. Pharmacist).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Concurrency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Asynchronous Processing:</a:t>
            </a:r>
            <a:r>
              <a:t> Replaced development server with Gunicorn.</a:t>
            </a:r>
          </a:p>
          <a:p>
            <a:pPr lvl="1"/>
            <a:r>
              <a:rPr b="1"/>
              <a:t>Workers:</a:t>
            </a:r>
            <a:r>
              <a:t> Multiple worker processes handle parallel requests.</a:t>
            </a:r>
          </a:p>
          <a:p>
            <a:pPr/>
            <a:r>
              <a:rPr b="1"/>
              <a:t>Elastic Scalability:</a:t>
            </a:r>
            <a:r>
              <a:t> Handles hundreds of simultaneous POS checkouts.</a:t>
            </a:r>
          </a:p>
          <a:p>
            <a:pPr/>
            <a:r>
              <a:rPr b="1"/>
              <a:t>Stateless Architecture:</a:t>
            </a:r>
            <a:r>
              <a:t> Signed sessions allow seamless routing across servers.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Scope: Event-Driven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Moving Beyond Dashboards:</a:t>
            </a:r>
            <a:r>
              <a:t> Implementing active, event-driven alerts.</a:t>
            </a:r>
          </a:p>
          <a:p>
            <a:pPr/>
            <a:r>
              <a:rPr b="1"/>
              <a:t>Database Triggers:</a:t>
            </a:r>
            <a:r>
              <a:t> Low inventory automatically invokes AWS Lambda.</a:t>
            </a:r>
          </a:p>
          <a:p>
            <a:pPr lvl="1"/>
            <a:r>
              <a:rPr b="1"/>
              <a:t>Instant Notifications:</a:t>
            </a:r>
            <a:r>
              <a:t> Lambda triggers Amazon SNS.</a:t>
            </a:r>
          </a:p>
          <a:p>
            <a:pPr lvl="1"/>
            <a:r>
              <a:rPr b="1"/>
              <a:t>Action:</a:t>
            </a:r>
            <a:r>
              <a:t> Immediately SMS/Emails the manager to reorder stock.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Progress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Phase 1 Complete (50% Milestone):</a:t>
            </a:r>
          </a:p>
          <a:p>
            <a:pPr lvl="1"/>
            <a:r>
              <a:rPr b="1"/>
              <a:t>Discriminator column logic and Hybrid DB successfully implemented locally.</a:t>
            </a:r>
          </a:p>
          <a:p>
            <a:pPr/>
            <a:r>
              <a:rPr b="1"/>
              <a:t>Phase 2 Roadmap:</a:t>
            </a:r>
          </a:p>
          <a:p>
            <a:pPr lvl="1"/>
            <a:r>
              <a:rPr b="1"/>
              <a:t>Full deployment to AWS EC2, RDS, and configuring Lambda triggers.</a:t>
            </a:r>
          </a:p>
          <a:p>
            <a:pPr/>
            <a:r>
              <a:rPr b="1"/>
              <a:t>Thank you.</a:t>
            </a:r>
            <a:r>
              <a:t> Open for questions regarding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